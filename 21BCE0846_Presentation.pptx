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notesSlides/notesSlide15.xml" ContentType="application/vnd.openxmlformats-officedocument.presentationml.notesSlide+xml"/>
  <Override PartName="/ppt/notesSlides/_rels/notesSlide8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slideMasters/slideMaster13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119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7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7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7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180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175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174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176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177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17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17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97.xml.rels" ContentType="application/vnd.openxmlformats-package.relationships+xml"/>
  <Override PartName="/ppt/slideLayouts/slideLayout118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3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6.xml" ContentType="application/vnd.openxmlformats-officedocument.theme+xml"/>
  <Override PartName="/ppt/theme/theme3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9.png" ContentType="image/png"/>
  <Override PartName="/ppt/media/image10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5.xml.rels" ContentType="application/vnd.openxmlformats-package.relationships+xml"/>
  <Override PartName="/ppt/slides/_rels/slide3.xml.rels" ContentType="application/vnd.openxmlformats-package.relationships+xml"/>
  <Override PartName="/ppt/slides/_rels/slide14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  <p:sldMasterId id="2147483830" r:id="rId16"/>
  </p:sldMasterIdLst>
  <p:notesMasterIdLst>
    <p:notesMasterId r:id="rId17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D05A846-9A44-4E84-9AF6-FEE292F220B2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86F4789-BCEB-4776-B709-823AF9E2BE8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D0B0380-27C7-440D-9E91-FBE506C7F0B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80535AB-8B23-45FE-8D99-107B6D66BD2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D097969-5C12-49EB-A48A-87344682C14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5C5E5E3-7640-40E2-98FE-E45D24EF3DD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98A9802-5F2C-440C-98B1-CE143BB9C9E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EA2BD14-B61A-4787-95A3-A33D0A34B31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D498033-773D-4AFE-81C6-5B036A3BC07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08CA2DC-9D16-4EE7-ABA7-6E8F4D3F136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CBBDEBF-F362-467A-A172-86C5B0D5891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FF29EB1-F338-4AC6-BE24-AABB7B6E05B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78EA6A6-DA1A-46C2-9F68-BEC4BD8A243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1A5819B-95CA-4037-BA96-EEB3AFDBD70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8C22E57-9086-4A7D-86E2-34309D21C19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5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5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6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7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1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6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7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8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2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7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8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9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8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0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4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5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6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7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1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6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7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8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0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2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6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7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8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9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1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3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7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8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9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0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2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4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8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9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0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1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5.xml"/><Relationship Id="rId13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2.xml"/><Relationship Id="rId8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34.xml"/><Relationship Id="rId6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6.xml"/><Relationship Id="rId8" Type="http://schemas.openxmlformats.org/officeDocument/2006/relationships/slideLayout" Target="../slideLayouts/slideLayout137.xml"/><Relationship Id="rId9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139.xml"/><Relationship Id="rId11" Type="http://schemas.openxmlformats.org/officeDocument/2006/relationships/slideLayout" Target="../slideLayouts/slideLayout140.xml"/><Relationship Id="rId12" Type="http://schemas.openxmlformats.org/officeDocument/2006/relationships/slideLayout" Target="../slideLayouts/slideLayout141.xml"/><Relationship Id="rId13" Type="http://schemas.openxmlformats.org/officeDocument/2006/relationships/slideLayout" Target="../slideLayouts/slideLayout142.xml"/><Relationship Id="rId14" Type="http://schemas.openxmlformats.org/officeDocument/2006/relationships/slideLayout" Target="../slideLayouts/slideLayout143.xml"/><Relationship Id="rId15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48.xml"/><Relationship Id="rId8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53.xml"/><Relationship Id="rId13" Type="http://schemas.openxmlformats.org/officeDocument/2006/relationships/slideLayout" Target="../slideLayouts/slideLayout154.xml"/><Relationship Id="rId14" Type="http://schemas.openxmlformats.org/officeDocument/2006/relationships/slideLayout" Target="../slideLayouts/slideLayout155.xml"/><Relationship Id="rId15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66.xml"/><Relationship Id="rId14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6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69.xml"/><Relationship Id="rId5" Type="http://schemas.openxmlformats.org/officeDocument/2006/relationships/slideLayout" Target="../slideLayouts/slideLayout170.xml"/><Relationship Id="rId6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2.xml"/><Relationship Id="rId8" Type="http://schemas.openxmlformats.org/officeDocument/2006/relationships/slideLayout" Target="../slideLayouts/slideLayout173.xml"/><Relationship Id="rId9" Type="http://schemas.openxmlformats.org/officeDocument/2006/relationships/slideLayout" Target="../slideLayouts/slideLayout174.xml"/><Relationship Id="rId10" Type="http://schemas.openxmlformats.org/officeDocument/2006/relationships/slideLayout" Target="../slideLayouts/slideLayout175.xml"/><Relationship Id="rId11" Type="http://schemas.openxmlformats.org/officeDocument/2006/relationships/slideLayout" Target="../slideLayouts/slideLayout176.xml"/><Relationship Id="rId12" Type="http://schemas.openxmlformats.org/officeDocument/2006/relationships/slideLayout" Target="../slideLayouts/slideLayout177.xml"/><Relationship Id="rId13" Type="http://schemas.openxmlformats.org/officeDocument/2006/relationships/slideLayout" Target="../slideLayouts/slideLayout178.xml"/><Relationship Id="rId14" Type="http://schemas.openxmlformats.org/officeDocument/2006/relationships/slideLayout" Target="../slideLayouts/slideLayout179.xml"/><Relationship Id="rId15" Type="http://schemas.openxmlformats.org/officeDocument/2006/relationships/slideLayout" Target="../slideLayouts/slideLayout18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0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1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0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1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3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9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85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2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45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69.xml"/>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619" name="Text 0"/>
          <p:cNvSpPr/>
          <p:nvPr/>
        </p:nvSpPr>
        <p:spPr>
          <a:xfrm>
            <a:off x="793800" y="1855080"/>
            <a:ext cx="7556040" cy="283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5550"/>
              </a:lnSpc>
              <a:tabLst>
                <a:tab algn="l" pos="0"/>
              </a:tabLst>
            </a:pPr>
            <a:r>
              <a:rPr b="1" lang="en-US" sz="4450" spc="-134" strike="noStrike">
                <a:solidFill>
                  <a:srgbClr val="000000"/>
                </a:solidFill>
                <a:latin typeface="Inter Bold"/>
                <a:ea typeface="Inter Bold"/>
              </a:rPr>
              <a:t>Network Intrusion Detection System Using reinforcement Learning and Automated Audit Reporting</a:t>
            </a:r>
            <a:endParaRPr b="0" lang="en-IN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Text 1"/>
          <p:cNvSpPr/>
          <p:nvPr/>
        </p:nvSpPr>
        <p:spPr>
          <a:xfrm>
            <a:off x="793800" y="5030640"/>
            <a:ext cx="75560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1" name="Text 2"/>
          <p:cNvSpPr/>
          <p:nvPr/>
        </p:nvSpPr>
        <p:spPr>
          <a:xfrm>
            <a:off x="793800" y="5648400"/>
            <a:ext cx="75560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/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Abhishek Kumar     21BCE0846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ts val="2849"/>
              </a:lnSpc>
              <a:tabLst>
                <a:tab algn="l" pos="0"/>
              </a:tabLst>
            </a:pP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Guide Name: Prof. Anisha M. Lal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Text 0"/>
          <p:cNvSpPr/>
          <p:nvPr/>
        </p:nvSpPr>
        <p:spPr>
          <a:xfrm>
            <a:off x="793800" y="682560"/>
            <a:ext cx="51033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000"/>
              </a:lnSpc>
              <a:tabLst>
                <a:tab algn="l" pos="0"/>
              </a:tabLst>
            </a:pPr>
            <a:r>
              <a:rPr b="1" lang="en-US" sz="4000" spc="-123" strike="noStrike">
                <a:solidFill>
                  <a:srgbClr val="000000"/>
                </a:solidFill>
                <a:latin typeface="Inter Bold"/>
                <a:ea typeface="Inter Bold"/>
              </a:rPr>
              <a:t>Presentation Outline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Shape 1"/>
          <p:cNvSpPr/>
          <p:nvPr/>
        </p:nvSpPr>
        <p:spPr>
          <a:xfrm>
            <a:off x="793800" y="1626480"/>
            <a:ext cx="6419160" cy="741960"/>
          </a:xfrm>
          <a:prstGeom prst="roundRect">
            <a:avLst>
              <a:gd name="adj" fmla="val 11552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2"/>
          <p:cNvSpPr/>
          <p:nvPr/>
        </p:nvSpPr>
        <p:spPr>
          <a:xfrm>
            <a:off x="1005480" y="1838160"/>
            <a:ext cx="4005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1" lang="en-US" sz="2000" spc="-60" strike="noStrike">
                <a:solidFill>
                  <a:srgbClr val="272525"/>
                </a:solidFill>
                <a:latin typeface="Inter Bold"/>
                <a:ea typeface="Inter Bold"/>
              </a:rPr>
              <a:t>Introduction to Intrusion Detection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Shape 3"/>
          <p:cNvSpPr/>
          <p:nvPr/>
        </p:nvSpPr>
        <p:spPr>
          <a:xfrm>
            <a:off x="7417080" y="1626480"/>
            <a:ext cx="6419160" cy="741960"/>
          </a:xfrm>
          <a:prstGeom prst="roundRect">
            <a:avLst>
              <a:gd name="adj" fmla="val 11552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4"/>
          <p:cNvSpPr/>
          <p:nvPr/>
        </p:nvSpPr>
        <p:spPr>
          <a:xfrm>
            <a:off x="7628760" y="1838160"/>
            <a:ext cx="25513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1" lang="en-US" sz="2000" spc="-60" strike="noStrike">
                <a:solidFill>
                  <a:srgbClr val="272525"/>
                </a:solidFill>
                <a:latin typeface="Inter Bold"/>
                <a:ea typeface="Inter Bold"/>
              </a:rPr>
              <a:t>Literature Review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Shape 5"/>
          <p:cNvSpPr/>
          <p:nvPr/>
        </p:nvSpPr>
        <p:spPr>
          <a:xfrm>
            <a:off x="793800" y="2572920"/>
            <a:ext cx="6419160" cy="831240"/>
          </a:xfrm>
          <a:prstGeom prst="roundRect">
            <a:avLst>
              <a:gd name="adj" fmla="val 10311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6"/>
          <p:cNvSpPr/>
          <p:nvPr/>
        </p:nvSpPr>
        <p:spPr>
          <a:xfrm>
            <a:off x="1005480" y="2784600"/>
            <a:ext cx="59958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000" spc="-32" strike="noStrike">
                <a:solidFill>
                  <a:srgbClr val="272525"/>
                </a:solidFill>
                <a:latin typeface="Inter"/>
                <a:ea typeface="Inter"/>
              </a:rPr>
              <a:t>Problem Formulation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Shape 7"/>
          <p:cNvSpPr/>
          <p:nvPr/>
        </p:nvSpPr>
        <p:spPr>
          <a:xfrm>
            <a:off x="7417080" y="2572920"/>
            <a:ext cx="6419160" cy="831240"/>
          </a:xfrm>
          <a:prstGeom prst="roundRect">
            <a:avLst>
              <a:gd name="adj" fmla="val 10311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 8"/>
          <p:cNvSpPr/>
          <p:nvPr/>
        </p:nvSpPr>
        <p:spPr>
          <a:xfrm>
            <a:off x="7628760" y="2784600"/>
            <a:ext cx="59958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000" spc="-32" strike="noStrike">
                <a:solidFill>
                  <a:srgbClr val="272525"/>
                </a:solidFill>
                <a:latin typeface="Inter"/>
                <a:ea typeface="Inter"/>
              </a:rPr>
              <a:t>Relevance to SDG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Shape 9"/>
          <p:cNvSpPr/>
          <p:nvPr/>
        </p:nvSpPr>
        <p:spPr>
          <a:xfrm>
            <a:off x="793800" y="3608640"/>
            <a:ext cx="6419160" cy="831240"/>
          </a:xfrm>
          <a:prstGeom prst="roundRect">
            <a:avLst>
              <a:gd name="adj" fmla="val 10311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10"/>
          <p:cNvSpPr/>
          <p:nvPr/>
        </p:nvSpPr>
        <p:spPr>
          <a:xfrm>
            <a:off x="1005480" y="3820320"/>
            <a:ext cx="59958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000" spc="-32" strike="noStrike">
                <a:solidFill>
                  <a:srgbClr val="272525"/>
                </a:solidFill>
                <a:latin typeface="Inter"/>
                <a:ea typeface="Inter"/>
              </a:rPr>
              <a:t>Proposed System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Shape 11"/>
          <p:cNvSpPr/>
          <p:nvPr/>
        </p:nvSpPr>
        <p:spPr>
          <a:xfrm>
            <a:off x="7417080" y="3608640"/>
            <a:ext cx="6419160" cy="831240"/>
          </a:xfrm>
          <a:prstGeom prst="roundRect">
            <a:avLst>
              <a:gd name="adj" fmla="val 10311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12"/>
          <p:cNvSpPr/>
          <p:nvPr/>
        </p:nvSpPr>
        <p:spPr>
          <a:xfrm>
            <a:off x="7628760" y="3820320"/>
            <a:ext cx="59958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000" spc="-32" strike="noStrike">
                <a:solidFill>
                  <a:srgbClr val="272525"/>
                </a:solidFill>
                <a:latin typeface="Inter"/>
                <a:ea typeface="Inter"/>
              </a:rPr>
              <a:t>Analytical &amp; Theoretical Description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Shape 13"/>
          <p:cNvSpPr/>
          <p:nvPr/>
        </p:nvSpPr>
        <p:spPr>
          <a:xfrm>
            <a:off x="793800" y="4644000"/>
            <a:ext cx="6419160" cy="831240"/>
          </a:xfrm>
          <a:prstGeom prst="roundRect">
            <a:avLst>
              <a:gd name="adj" fmla="val 10311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 14"/>
          <p:cNvSpPr/>
          <p:nvPr/>
        </p:nvSpPr>
        <p:spPr>
          <a:xfrm>
            <a:off x="1005480" y="4855680"/>
            <a:ext cx="59958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000" spc="-32" strike="noStrike">
                <a:solidFill>
                  <a:srgbClr val="272525"/>
                </a:solidFill>
                <a:latin typeface="Inter"/>
                <a:ea typeface="Inter"/>
              </a:rPr>
              <a:t>Tools &amp; Design Parameters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Shape 15"/>
          <p:cNvSpPr/>
          <p:nvPr/>
        </p:nvSpPr>
        <p:spPr>
          <a:xfrm>
            <a:off x="7417080" y="4644000"/>
            <a:ext cx="6419160" cy="831240"/>
          </a:xfrm>
          <a:prstGeom prst="roundRect">
            <a:avLst>
              <a:gd name="adj" fmla="val 10311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 16"/>
          <p:cNvSpPr/>
          <p:nvPr/>
        </p:nvSpPr>
        <p:spPr>
          <a:xfrm>
            <a:off x="7628760" y="4855680"/>
            <a:ext cx="59958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000" spc="-32" strike="noStrike">
                <a:solidFill>
                  <a:srgbClr val="272525"/>
                </a:solidFill>
                <a:latin typeface="Inter"/>
                <a:ea typeface="Inter"/>
              </a:rPr>
              <a:t>Results &amp; Analysis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Shape 17"/>
          <p:cNvSpPr/>
          <p:nvPr/>
        </p:nvSpPr>
        <p:spPr>
          <a:xfrm>
            <a:off x="793800" y="5679720"/>
            <a:ext cx="6419160" cy="831240"/>
          </a:xfrm>
          <a:prstGeom prst="roundRect">
            <a:avLst>
              <a:gd name="adj" fmla="val 10311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18"/>
          <p:cNvSpPr/>
          <p:nvPr/>
        </p:nvSpPr>
        <p:spPr>
          <a:xfrm>
            <a:off x="1005480" y="5891400"/>
            <a:ext cx="59958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000" spc="-32" strike="noStrike">
                <a:solidFill>
                  <a:srgbClr val="272525"/>
                </a:solidFill>
                <a:latin typeface="Inter"/>
                <a:ea typeface="Inter"/>
              </a:rPr>
              <a:t>Conclusion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Shape 19"/>
          <p:cNvSpPr/>
          <p:nvPr/>
        </p:nvSpPr>
        <p:spPr>
          <a:xfrm>
            <a:off x="7417080" y="5679720"/>
            <a:ext cx="6419160" cy="831240"/>
          </a:xfrm>
          <a:prstGeom prst="roundRect">
            <a:avLst>
              <a:gd name="adj" fmla="val 10311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20"/>
          <p:cNvSpPr/>
          <p:nvPr/>
        </p:nvSpPr>
        <p:spPr>
          <a:xfrm>
            <a:off x="7628760" y="5891400"/>
            <a:ext cx="59958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000" spc="-32" strike="noStrike">
                <a:solidFill>
                  <a:srgbClr val="272525"/>
                </a:solidFill>
                <a:latin typeface="Inter"/>
                <a:ea typeface="Inter"/>
              </a:rPr>
              <a:t>Team Contribution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Shape 21"/>
          <p:cNvSpPr/>
          <p:nvPr/>
        </p:nvSpPr>
        <p:spPr>
          <a:xfrm>
            <a:off x="793800" y="6715440"/>
            <a:ext cx="6419160" cy="831240"/>
          </a:xfrm>
          <a:prstGeom prst="roundRect">
            <a:avLst>
              <a:gd name="adj" fmla="val 10311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 22"/>
          <p:cNvSpPr/>
          <p:nvPr/>
        </p:nvSpPr>
        <p:spPr>
          <a:xfrm>
            <a:off x="1005480" y="6927120"/>
            <a:ext cx="59958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000" spc="-32" strike="noStrike">
                <a:solidFill>
                  <a:srgbClr val="272525"/>
                </a:solidFill>
                <a:latin typeface="Inter"/>
                <a:ea typeface="Inter"/>
              </a:rPr>
              <a:t>Societal &amp; Environmental Impact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Shape 23"/>
          <p:cNvSpPr/>
          <p:nvPr/>
        </p:nvSpPr>
        <p:spPr>
          <a:xfrm>
            <a:off x="7417080" y="6715440"/>
            <a:ext cx="6419160" cy="831240"/>
          </a:xfrm>
          <a:prstGeom prst="roundRect">
            <a:avLst>
              <a:gd name="adj" fmla="val 10311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 24"/>
          <p:cNvSpPr/>
          <p:nvPr/>
        </p:nvSpPr>
        <p:spPr>
          <a:xfrm>
            <a:off x="7628760" y="6927120"/>
            <a:ext cx="59958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000" spc="-32" strike="noStrike">
                <a:solidFill>
                  <a:srgbClr val="272525"/>
                </a:solidFill>
                <a:latin typeface="Inter"/>
                <a:ea typeface="Inter"/>
              </a:rPr>
              <a:t>References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Text 0"/>
          <p:cNvSpPr/>
          <p:nvPr/>
        </p:nvSpPr>
        <p:spPr>
          <a:xfrm>
            <a:off x="793800" y="1978560"/>
            <a:ext cx="113698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1" lang="en-US" sz="4450" spc="-134" strike="noStrike">
                <a:solidFill>
                  <a:srgbClr val="000000"/>
                </a:solidFill>
                <a:latin typeface="Inter Bold"/>
                <a:ea typeface="Inter Bold"/>
              </a:rPr>
              <a:t>Introduction to Adaptive Intrusion Detection</a:t>
            </a:r>
            <a:endParaRPr b="0" lang="en-IN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Text 1"/>
          <p:cNvSpPr/>
          <p:nvPr/>
        </p:nvSpPr>
        <p:spPr>
          <a:xfrm>
            <a:off x="793800" y="3254400"/>
            <a:ext cx="37105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69" strike="noStrike">
                <a:solidFill>
                  <a:srgbClr val="000000"/>
                </a:solidFill>
                <a:latin typeface="Inter Bold"/>
                <a:ea typeface="Inter Bold"/>
              </a:rPr>
              <a:t>Limitations of Traditional IDS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 2"/>
          <p:cNvSpPr/>
          <p:nvPr/>
        </p:nvSpPr>
        <p:spPr>
          <a:xfrm>
            <a:off x="793800" y="3835440"/>
            <a:ext cx="624420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85840" indent="-285840" defTabSz="914400">
              <a:lnSpc>
                <a:spcPts val="2849"/>
              </a:lnSpc>
              <a:buClr>
                <a:srgbClr val="272525"/>
              </a:buClr>
              <a:buFont typeface="Arial"/>
              <a:buChar char="•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Existing signature-based IDS like SNORT and BRO are effective mainly against known threats, lacking adaptability to emerging attacks.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 3"/>
          <p:cNvSpPr/>
          <p:nvPr/>
        </p:nvSpPr>
        <p:spPr>
          <a:xfrm>
            <a:off x="793800" y="512820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85840" indent="-285840" defTabSz="914400">
              <a:lnSpc>
                <a:spcPts val="2849"/>
              </a:lnSpc>
              <a:buClr>
                <a:srgbClr val="272525"/>
              </a:buClr>
              <a:buFont typeface="Arial"/>
              <a:buChar char="•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Static ML models offer anomaly detection but cannot adapt in real-time to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novel attack 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patterns or evolving threats.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Text 4"/>
          <p:cNvSpPr/>
          <p:nvPr/>
        </p:nvSpPr>
        <p:spPr>
          <a:xfrm>
            <a:off x="7599600" y="3254400"/>
            <a:ext cx="345024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69" strike="noStrike">
                <a:solidFill>
                  <a:srgbClr val="000000"/>
                </a:solidFill>
                <a:latin typeface="Inter Bold"/>
                <a:ea typeface="Inter Bold"/>
              </a:rPr>
              <a:t>Hybrid Learning Approach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 5"/>
          <p:cNvSpPr/>
          <p:nvPr/>
        </p:nvSpPr>
        <p:spPr>
          <a:xfrm>
            <a:off x="7599600" y="383544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Consolas"/>
              </a:rPr>
              <a:t>Supervised Learning (Random Forest, Logistic Regression):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Detects known attacks using labeled data (e.g., SQLi, DDoS).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Consolas"/>
              </a:rPr>
              <a:t>Unsupervised Learning (K-Means Clustering):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Identifies unknown threats through anomaly detection on unlabeled data.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Consolas"/>
              </a:rPr>
              <a:t>Reinforcement Learning (DQN):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Adapts in real-time, learns from feedback, and improves detection of evolving attacks like Advance Persistent Threats (apts)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Text 6"/>
          <p:cNvSpPr/>
          <p:nvPr/>
        </p:nvSpPr>
        <p:spPr>
          <a:xfrm>
            <a:off x="7599600" y="464076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</a:pPr>
            <a:endParaRPr b="0" lang="en-US" sz="17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4" name="Text 7"/>
          <p:cNvSpPr/>
          <p:nvPr/>
        </p:nvSpPr>
        <p:spPr>
          <a:xfrm>
            <a:off x="7599600" y="544572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</a:pPr>
            <a:endParaRPr b="0" lang="en-US" sz="175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Text 0"/>
          <p:cNvSpPr/>
          <p:nvPr/>
        </p:nvSpPr>
        <p:spPr>
          <a:xfrm>
            <a:off x="793800" y="1035360"/>
            <a:ext cx="9578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450"/>
              </a:lnSpc>
              <a:tabLst>
                <a:tab algn="l" pos="0"/>
              </a:tabLst>
            </a:pPr>
            <a:r>
              <a:rPr b="1" lang="en-US" sz="3550" spc="-109" strike="noStrike">
                <a:solidFill>
                  <a:srgbClr val="000000"/>
                </a:solidFill>
                <a:latin typeface="Inter Bold"/>
                <a:ea typeface="Inter Bold"/>
              </a:rPr>
              <a:t>Literature Review: Techniques and Limitations</a:t>
            </a:r>
            <a:endParaRPr b="0" lang="en-IN" sz="3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Shape 1"/>
          <p:cNvSpPr/>
          <p:nvPr/>
        </p:nvSpPr>
        <p:spPr>
          <a:xfrm>
            <a:off x="793800" y="1874520"/>
            <a:ext cx="13042440" cy="5319000"/>
          </a:xfrm>
          <a:prstGeom prst="roundRect">
            <a:avLst>
              <a:gd name="adj" fmla="val 1433"/>
            </a:avLst>
          </a:prstGeom>
          <a:noFill/>
          <a:ln w="7620">
            <a:solidFill>
              <a:srgbClr val="00000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Shape 2"/>
          <p:cNvSpPr/>
          <p:nvPr/>
        </p:nvSpPr>
        <p:spPr>
          <a:xfrm>
            <a:off x="801360" y="1882080"/>
            <a:ext cx="13025880" cy="59544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 3"/>
          <p:cNvSpPr/>
          <p:nvPr/>
        </p:nvSpPr>
        <p:spPr>
          <a:xfrm>
            <a:off x="984240" y="1998720"/>
            <a:ext cx="39744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1" lang="en-US" sz="1750" spc="-29" strike="noStrike">
                <a:solidFill>
                  <a:srgbClr val="272525"/>
                </a:solidFill>
                <a:latin typeface="Inter"/>
                <a:ea typeface="Inter"/>
              </a:rPr>
              <a:t>Technique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4"/>
          <p:cNvSpPr/>
          <p:nvPr/>
        </p:nvSpPr>
        <p:spPr>
          <a:xfrm>
            <a:off x="5329800" y="1998720"/>
            <a:ext cx="39708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1" lang="en-US" sz="1750" spc="-29" strike="noStrike">
                <a:solidFill>
                  <a:srgbClr val="272525"/>
                </a:solidFill>
                <a:latin typeface="Inter"/>
                <a:ea typeface="Inter"/>
              </a:rPr>
              <a:t>Authors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 5"/>
          <p:cNvSpPr/>
          <p:nvPr/>
        </p:nvSpPr>
        <p:spPr>
          <a:xfrm>
            <a:off x="9671400" y="1998720"/>
            <a:ext cx="39744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1" lang="en-US" sz="1750" spc="-29" strike="noStrike">
                <a:solidFill>
                  <a:srgbClr val="272525"/>
                </a:solidFill>
                <a:latin typeface="Inter"/>
                <a:ea typeface="Inter"/>
              </a:rPr>
              <a:t>Limitations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Shape 6"/>
          <p:cNvSpPr/>
          <p:nvPr/>
        </p:nvSpPr>
        <p:spPr>
          <a:xfrm>
            <a:off x="801360" y="2477880"/>
            <a:ext cx="13025880" cy="52272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7"/>
          <p:cNvSpPr/>
          <p:nvPr/>
        </p:nvSpPr>
        <p:spPr>
          <a:xfrm>
            <a:off x="984240" y="259452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CNN (Deep Learning)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 8"/>
          <p:cNvSpPr/>
          <p:nvPr/>
        </p:nvSpPr>
        <p:spPr>
          <a:xfrm>
            <a:off x="5329800" y="2594520"/>
            <a:ext cx="39708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Smith et al. (2020)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Text 9"/>
          <p:cNvSpPr/>
          <p:nvPr/>
        </p:nvSpPr>
        <p:spPr>
          <a:xfrm>
            <a:off x="9671400" y="259452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High computational cost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Shape 10"/>
          <p:cNvSpPr/>
          <p:nvPr/>
        </p:nvSpPr>
        <p:spPr>
          <a:xfrm>
            <a:off x="801360" y="3001320"/>
            <a:ext cx="13025880" cy="5227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 11"/>
          <p:cNvSpPr/>
          <p:nvPr/>
        </p:nvSpPr>
        <p:spPr>
          <a:xfrm>
            <a:off x="984240" y="311760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SVM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Text 12"/>
          <p:cNvSpPr/>
          <p:nvPr/>
        </p:nvSpPr>
        <p:spPr>
          <a:xfrm>
            <a:off x="5329800" y="3117600"/>
            <a:ext cx="39708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Johnson &amp; Lee (2018)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Text 13"/>
          <p:cNvSpPr/>
          <p:nvPr/>
        </p:nvSpPr>
        <p:spPr>
          <a:xfrm>
            <a:off x="9671400" y="311760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Poor handling of high-dimensional, noisy data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Shape 14"/>
          <p:cNvSpPr/>
          <p:nvPr/>
        </p:nvSpPr>
        <p:spPr>
          <a:xfrm>
            <a:off x="801360" y="3524400"/>
            <a:ext cx="13025880" cy="52272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Text 15"/>
          <p:cNvSpPr/>
          <p:nvPr/>
        </p:nvSpPr>
        <p:spPr>
          <a:xfrm>
            <a:off x="984240" y="364068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Decision Trees + K-Means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Text 16"/>
          <p:cNvSpPr/>
          <p:nvPr/>
        </p:nvSpPr>
        <p:spPr>
          <a:xfrm>
            <a:off x="5329800" y="3640680"/>
            <a:ext cx="39708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Wang &amp; Chen (2019)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 17"/>
          <p:cNvSpPr/>
          <p:nvPr/>
        </p:nvSpPr>
        <p:spPr>
          <a:xfrm>
            <a:off x="9671400" y="364068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Ineffective on unseen attack types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Shape 18"/>
          <p:cNvSpPr/>
          <p:nvPr/>
        </p:nvSpPr>
        <p:spPr>
          <a:xfrm>
            <a:off x="801360" y="4047480"/>
            <a:ext cx="13025880" cy="5227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19"/>
          <p:cNvSpPr/>
          <p:nvPr/>
        </p:nvSpPr>
        <p:spPr>
          <a:xfrm>
            <a:off x="984240" y="416412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Ensemble Learning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5" name="Text 20"/>
          <p:cNvSpPr/>
          <p:nvPr/>
        </p:nvSpPr>
        <p:spPr>
          <a:xfrm>
            <a:off x="5329800" y="4164120"/>
            <a:ext cx="39708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Kumar et al. (2021)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Text 21"/>
          <p:cNvSpPr/>
          <p:nvPr/>
        </p:nvSpPr>
        <p:spPr>
          <a:xfrm>
            <a:off x="9671400" y="416412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Vulnerable to adversarial attacks, concept drift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Shape 22"/>
          <p:cNvSpPr/>
          <p:nvPr/>
        </p:nvSpPr>
        <p:spPr>
          <a:xfrm>
            <a:off x="801360" y="4570560"/>
            <a:ext cx="13025880" cy="52272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Text 23"/>
          <p:cNvSpPr/>
          <p:nvPr/>
        </p:nvSpPr>
        <p:spPr>
          <a:xfrm>
            <a:off x="984240" y="468720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Random Forest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Text 24"/>
          <p:cNvSpPr/>
          <p:nvPr/>
        </p:nvSpPr>
        <p:spPr>
          <a:xfrm>
            <a:off x="5329800" y="4687200"/>
            <a:ext cx="39708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Garcia &amp; Lopez (2017)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Text 25"/>
          <p:cNvSpPr/>
          <p:nvPr/>
        </p:nvSpPr>
        <p:spPr>
          <a:xfrm>
            <a:off x="9671400" y="468720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Lack of interpretability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Shape 26"/>
          <p:cNvSpPr/>
          <p:nvPr/>
        </p:nvSpPr>
        <p:spPr>
          <a:xfrm>
            <a:off x="801360" y="5094000"/>
            <a:ext cx="13025880" cy="5227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 27"/>
          <p:cNvSpPr/>
          <p:nvPr/>
        </p:nvSpPr>
        <p:spPr>
          <a:xfrm>
            <a:off x="984240" y="521028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LSTM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Text 28"/>
          <p:cNvSpPr/>
          <p:nvPr/>
        </p:nvSpPr>
        <p:spPr>
          <a:xfrm>
            <a:off x="5329800" y="5210280"/>
            <a:ext cx="39708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Brown &amp; Martinez (2019)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Text 29"/>
          <p:cNvSpPr/>
          <p:nvPr/>
        </p:nvSpPr>
        <p:spPr>
          <a:xfrm>
            <a:off x="9671400" y="521028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Complex, limited interpretability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Shape 30"/>
          <p:cNvSpPr/>
          <p:nvPr/>
        </p:nvSpPr>
        <p:spPr>
          <a:xfrm>
            <a:off x="801360" y="5617080"/>
            <a:ext cx="13025880" cy="52272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Text 31"/>
          <p:cNvSpPr/>
          <p:nvPr/>
        </p:nvSpPr>
        <p:spPr>
          <a:xfrm>
            <a:off x="984240" y="573336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Genetic Algorithms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Text 32"/>
          <p:cNvSpPr/>
          <p:nvPr/>
        </p:nvSpPr>
        <p:spPr>
          <a:xfrm>
            <a:off x="5329800" y="5733360"/>
            <a:ext cx="39708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Kim &amp; Park (2018)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Text 33"/>
          <p:cNvSpPr/>
          <p:nvPr/>
        </p:nvSpPr>
        <p:spPr>
          <a:xfrm>
            <a:off x="9671400" y="573336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High cost for large feature sets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Shape 34"/>
          <p:cNvSpPr/>
          <p:nvPr/>
        </p:nvSpPr>
        <p:spPr>
          <a:xfrm>
            <a:off x="801360" y="6140160"/>
            <a:ext cx="13025880" cy="5227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Text 35"/>
          <p:cNvSpPr/>
          <p:nvPr/>
        </p:nvSpPr>
        <p:spPr>
          <a:xfrm>
            <a:off x="984240" y="625644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DPI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Text 36"/>
          <p:cNvSpPr/>
          <p:nvPr/>
        </p:nvSpPr>
        <p:spPr>
          <a:xfrm>
            <a:off x="5329800" y="6256440"/>
            <a:ext cx="39708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Wang &amp; Liu (2016)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Text 37"/>
          <p:cNvSpPr/>
          <p:nvPr/>
        </p:nvSpPr>
        <p:spPr>
          <a:xfrm>
            <a:off x="9671400" y="625644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Processing overhead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Shape 38"/>
          <p:cNvSpPr/>
          <p:nvPr/>
        </p:nvSpPr>
        <p:spPr>
          <a:xfrm>
            <a:off x="801360" y="6663240"/>
            <a:ext cx="13025880" cy="52272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Text 39"/>
          <p:cNvSpPr/>
          <p:nvPr/>
        </p:nvSpPr>
        <p:spPr>
          <a:xfrm>
            <a:off x="984240" y="677988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Fuzzy Logic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Text 40"/>
          <p:cNvSpPr/>
          <p:nvPr/>
        </p:nvSpPr>
        <p:spPr>
          <a:xfrm>
            <a:off x="5329800" y="6779880"/>
            <a:ext cx="39708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Lee &amp; Kim (2017)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Text 41"/>
          <p:cNvSpPr/>
          <p:nvPr/>
        </p:nvSpPr>
        <p:spPr>
          <a:xfrm>
            <a:off x="9671400" y="6779880"/>
            <a:ext cx="3974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pc="-29" strike="noStrike">
                <a:solidFill>
                  <a:srgbClr val="272525"/>
                </a:solidFill>
                <a:latin typeface="Inter"/>
                <a:ea typeface="Inter"/>
              </a:rPr>
              <a:t>Hard to define thresholds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Text 0"/>
          <p:cNvSpPr/>
          <p:nvPr/>
        </p:nvSpPr>
        <p:spPr>
          <a:xfrm>
            <a:off x="793800" y="1044360"/>
            <a:ext cx="126075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1" lang="en-US" sz="4450" spc="-134" strike="noStrike">
                <a:solidFill>
                  <a:srgbClr val="000000"/>
                </a:solidFill>
                <a:latin typeface="Inter Bold"/>
                <a:ea typeface="Inter Bold"/>
              </a:rPr>
              <a:t>Problem Formulation: Dynamic and Adaptive IDS</a:t>
            </a:r>
            <a:endParaRPr b="0" lang="en-IN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Shape 1"/>
          <p:cNvSpPr/>
          <p:nvPr/>
        </p:nvSpPr>
        <p:spPr>
          <a:xfrm>
            <a:off x="793800" y="2348640"/>
            <a:ext cx="510120" cy="510120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9" name="Image 0" descr="preencoded.png"/>
          <p:cNvPicPr/>
          <p:nvPr/>
        </p:nvPicPr>
        <p:blipFill>
          <a:blip r:embed="rId1"/>
          <a:stretch/>
        </p:blipFill>
        <p:spPr>
          <a:xfrm>
            <a:off x="878760" y="2391120"/>
            <a:ext cx="339840" cy="424800"/>
          </a:xfrm>
          <a:prstGeom prst="rect">
            <a:avLst/>
          </a:prstGeom>
          <a:ln w="0">
            <a:noFill/>
          </a:ln>
        </p:spPr>
      </p:pic>
      <p:sp>
        <p:nvSpPr>
          <p:cNvPr id="700" name="Text 2"/>
          <p:cNvSpPr/>
          <p:nvPr/>
        </p:nvSpPr>
        <p:spPr>
          <a:xfrm>
            <a:off x="1531080" y="2348640"/>
            <a:ext cx="34588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69" strike="noStrike">
                <a:solidFill>
                  <a:srgbClr val="272525"/>
                </a:solidFill>
                <a:latin typeface="Inter Bold"/>
                <a:ea typeface="Inter Bold"/>
              </a:rPr>
              <a:t>Challenges in Traditional IDS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Text 3"/>
          <p:cNvSpPr/>
          <p:nvPr/>
        </p:nvSpPr>
        <p:spPr>
          <a:xfrm>
            <a:off x="1531080" y="3193200"/>
            <a:ext cx="3458880" cy="18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Current IDS rely on static rules and signatures, limiting responsiveness to complex evolving attack techniques like SQL Injection and DDoS.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Shape 4"/>
          <p:cNvSpPr/>
          <p:nvPr/>
        </p:nvSpPr>
        <p:spPr>
          <a:xfrm>
            <a:off x="5217120" y="2348640"/>
            <a:ext cx="510120" cy="510120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3" name="Image 1" descr="preencoded.png"/>
          <p:cNvPicPr/>
          <p:nvPr/>
        </p:nvPicPr>
        <p:blipFill>
          <a:blip r:embed="rId2"/>
          <a:stretch/>
        </p:blipFill>
        <p:spPr>
          <a:xfrm>
            <a:off x="5302080" y="2391120"/>
            <a:ext cx="339840" cy="424800"/>
          </a:xfrm>
          <a:prstGeom prst="rect">
            <a:avLst/>
          </a:prstGeom>
          <a:ln w="0">
            <a:noFill/>
          </a:ln>
        </p:spPr>
      </p:pic>
      <p:sp>
        <p:nvSpPr>
          <p:cNvPr id="704" name="Text 5"/>
          <p:cNvSpPr/>
          <p:nvPr/>
        </p:nvSpPr>
        <p:spPr>
          <a:xfrm>
            <a:off x="5954040" y="2348640"/>
            <a:ext cx="30405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69" strike="noStrike">
                <a:solidFill>
                  <a:srgbClr val="272525"/>
                </a:solidFill>
                <a:latin typeface="Inter Bold"/>
                <a:ea typeface="Inter Bold"/>
              </a:rPr>
              <a:t>Adaptive Learning Goal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Text 6"/>
          <p:cNvSpPr/>
          <p:nvPr/>
        </p:nvSpPr>
        <p:spPr>
          <a:xfrm>
            <a:off x="5954040" y="2838960"/>
            <a:ext cx="3458880" cy="18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Implement Deep Q-Learning and Actor-Critic models to create a self-updating IDS that learns from live traffic and adjusts detection policies dynamically.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Shape 7"/>
          <p:cNvSpPr/>
          <p:nvPr/>
        </p:nvSpPr>
        <p:spPr>
          <a:xfrm>
            <a:off x="9640080" y="2348640"/>
            <a:ext cx="510120" cy="510120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7" name="Image 2" descr="preencoded.png"/>
          <p:cNvPicPr/>
          <p:nvPr/>
        </p:nvPicPr>
        <p:blipFill>
          <a:blip r:embed="rId3"/>
          <a:stretch/>
        </p:blipFill>
        <p:spPr>
          <a:xfrm>
            <a:off x="9725040" y="2391120"/>
            <a:ext cx="339840" cy="424800"/>
          </a:xfrm>
          <a:prstGeom prst="rect">
            <a:avLst/>
          </a:prstGeom>
          <a:ln w="0">
            <a:noFill/>
          </a:ln>
        </p:spPr>
      </p:pic>
      <p:sp>
        <p:nvSpPr>
          <p:cNvPr id="708" name="Text 8"/>
          <p:cNvSpPr/>
          <p:nvPr/>
        </p:nvSpPr>
        <p:spPr>
          <a:xfrm>
            <a:off x="10377360" y="2348640"/>
            <a:ext cx="34588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69" strike="noStrike">
                <a:solidFill>
                  <a:srgbClr val="272525"/>
                </a:solidFill>
                <a:latin typeface="Inter Bold"/>
                <a:ea typeface="Inter Bold"/>
              </a:rPr>
              <a:t>Formulated Problem Statement: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Text 9"/>
          <p:cNvSpPr/>
          <p:nvPr/>
        </p:nvSpPr>
        <p:spPr>
          <a:xfrm>
            <a:off x="10377360" y="3193200"/>
            <a:ext cx="3458880" cy="39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Develop a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robust, adaptive Intrusion Detection System (IDS)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using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Deep Q-Learning (DQN)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and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Actor-Critic RL models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combined with traditional supervised and unsupervised techniques ,to detect and classify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SQL Injection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, and outperform static IDS models in adaptability, scalability, and detection precision.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Text 0"/>
          <p:cNvSpPr/>
          <p:nvPr/>
        </p:nvSpPr>
        <p:spPr>
          <a:xfrm>
            <a:off x="793800" y="1624320"/>
            <a:ext cx="13042440" cy="10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1" lang="en-US" sz="4450" spc="-134" strike="noStrike">
                <a:solidFill>
                  <a:srgbClr val="000000"/>
                </a:solidFill>
                <a:latin typeface="Inter Bold"/>
                <a:ea typeface="Inter Bold"/>
              </a:rPr>
              <a:t>Relevance to Sustainable Development Goals (SDGs)</a:t>
            </a:r>
            <a:endParaRPr b="0" lang="en-IN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Text 1"/>
          <p:cNvSpPr/>
          <p:nvPr/>
        </p:nvSpPr>
        <p:spPr>
          <a:xfrm>
            <a:off x="793800" y="3608640"/>
            <a:ext cx="54954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69" strike="noStrike">
                <a:solidFill>
                  <a:srgbClr val="000000"/>
                </a:solidFill>
                <a:latin typeface="Inter Bold"/>
                <a:ea typeface="Inter Bold"/>
              </a:rPr>
              <a:t>SDG 9: Industry, Innovation, Infrastructure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Text 2"/>
          <p:cNvSpPr/>
          <p:nvPr/>
        </p:nvSpPr>
        <p:spPr>
          <a:xfrm>
            <a:off x="793800" y="419004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AI-driven IDS enhances cybersecurity frameworks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Text 3"/>
          <p:cNvSpPr/>
          <p:nvPr/>
        </p:nvSpPr>
        <p:spPr>
          <a:xfrm>
            <a:off x="793800" y="463212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Reinforces innovation through RL algorithms increasing adaptive threat detection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Text 4"/>
          <p:cNvSpPr/>
          <p:nvPr/>
        </p:nvSpPr>
        <p:spPr>
          <a:xfrm>
            <a:off x="793800" y="543708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Supports resilient, real-time digital infrastructures globally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Text 5"/>
          <p:cNvSpPr/>
          <p:nvPr/>
        </p:nvSpPr>
        <p:spPr>
          <a:xfrm>
            <a:off x="7599600" y="3608640"/>
            <a:ext cx="60591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69" strike="noStrike">
                <a:solidFill>
                  <a:srgbClr val="000000"/>
                </a:solidFill>
                <a:latin typeface="Inter Bold"/>
                <a:ea typeface="Inter Bold"/>
              </a:rPr>
              <a:t>SDG 16: Peace, Justice, and Strong Institutions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6" name="Text 6"/>
          <p:cNvSpPr/>
          <p:nvPr/>
        </p:nvSpPr>
        <p:spPr>
          <a:xfrm>
            <a:off x="7599600" y="419004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Strengthens digital institutional security via proactive intrusion monitoring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Text 7"/>
          <p:cNvSpPr/>
          <p:nvPr/>
        </p:nvSpPr>
        <p:spPr>
          <a:xfrm>
            <a:off x="7599600" y="499500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Builds trust in essential digital services by reducing cybercrime risks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8" name="Text 8"/>
          <p:cNvSpPr/>
          <p:nvPr/>
        </p:nvSpPr>
        <p:spPr>
          <a:xfrm>
            <a:off x="7599600" y="579996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Fosters resilience and institutional integrity with continuous threat response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720" name="Text 0"/>
          <p:cNvSpPr/>
          <p:nvPr/>
        </p:nvSpPr>
        <p:spPr>
          <a:xfrm>
            <a:off x="6280200" y="1475280"/>
            <a:ext cx="75560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1" lang="en-US" sz="4450" spc="-134" strike="noStrike">
                <a:solidFill>
                  <a:srgbClr val="000000"/>
                </a:solidFill>
                <a:latin typeface="Inter Bold"/>
                <a:ea typeface="Inter Bold"/>
              </a:rPr>
              <a:t>Proposed System Architecture</a:t>
            </a:r>
            <a:endParaRPr b="0" lang="en-IN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Text 1"/>
          <p:cNvSpPr/>
          <p:nvPr/>
        </p:nvSpPr>
        <p:spPr>
          <a:xfrm>
            <a:off x="6280200" y="3233160"/>
            <a:ext cx="7556040" cy="21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The architecture integrates modular components including data preprocessing, multi-model learning engines, and an automated audit reporting system. The modular design facilitates real-time decision making by combining supervised, unsupervised, and reinforcement learning models. Real-time network traffic feeds are analyzed continuously with adaptive policies updated via RL techniques.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2" name="Text 2"/>
          <p:cNvSpPr/>
          <p:nvPr/>
        </p:nvSpPr>
        <p:spPr>
          <a:xfrm>
            <a:off x="6280200" y="5665680"/>
            <a:ext cx="75560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Automated audit reports generated post-analysis provide clear insights into detected intrusions and system performance, aiding comprehensive cybersecurity oversight.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Text 0"/>
          <p:cNvSpPr/>
          <p:nvPr/>
        </p:nvSpPr>
        <p:spPr>
          <a:xfrm>
            <a:off x="793800" y="637200"/>
            <a:ext cx="83973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000"/>
              </a:lnSpc>
              <a:tabLst>
                <a:tab algn="l" pos="0"/>
              </a:tabLst>
            </a:pPr>
            <a:r>
              <a:rPr b="1" lang="en-US" sz="4000" spc="-123" strike="noStrike">
                <a:solidFill>
                  <a:srgbClr val="000000"/>
                </a:solidFill>
                <a:latin typeface="Inter Bold"/>
                <a:ea typeface="Inter Bold"/>
              </a:rPr>
              <a:t>Analytical &amp; Theoretical Description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4" name="Image 0" descr="preencoded.png"/>
          <p:cNvPicPr/>
          <p:nvPr/>
        </p:nvPicPr>
        <p:blipFill>
          <a:blip r:embed="rId1"/>
          <a:stretch/>
        </p:blipFill>
        <p:spPr>
          <a:xfrm>
            <a:off x="793800" y="1581120"/>
            <a:ext cx="1020240" cy="1502280"/>
          </a:xfrm>
          <a:prstGeom prst="rect">
            <a:avLst/>
          </a:prstGeom>
          <a:ln w="0">
            <a:noFill/>
          </a:ln>
        </p:spPr>
      </p:pic>
      <p:sp>
        <p:nvSpPr>
          <p:cNvPr id="725" name="Text 1"/>
          <p:cNvSpPr/>
          <p:nvPr/>
        </p:nvSpPr>
        <p:spPr>
          <a:xfrm>
            <a:off x="2120760" y="1785240"/>
            <a:ext cx="25513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1" lang="en-US" sz="2000" spc="-60" strike="noStrike">
                <a:solidFill>
                  <a:srgbClr val="272525"/>
                </a:solidFill>
                <a:latin typeface="Inter Bold"/>
                <a:ea typeface="Inter Bold"/>
              </a:rPr>
              <a:t>Supervised Learning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Text 2"/>
          <p:cNvSpPr/>
          <p:nvPr/>
        </p:nvSpPr>
        <p:spPr>
          <a:xfrm>
            <a:off x="2120760" y="2226600"/>
            <a:ext cx="11715480" cy="6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en-US" sz="1600" spc="-32" strike="noStrike">
                <a:solidFill>
                  <a:srgbClr val="272525"/>
                </a:solidFill>
                <a:latin typeface="Inter"/>
                <a:ea typeface="Inter"/>
              </a:rPr>
              <a:t>Uses labeled datasets to classify known attack patterns via Random Forest, Decision Trees, and Logistic Regression, evaluated through standard metrics.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7" name="Image 1" descr="preencoded.png"/>
          <p:cNvPicPr/>
          <p:nvPr/>
        </p:nvPicPr>
        <p:blipFill>
          <a:blip r:embed="rId2"/>
          <a:stretch/>
        </p:blipFill>
        <p:spPr>
          <a:xfrm>
            <a:off x="793800" y="3084120"/>
            <a:ext cx="1020240" cy="1502280"/>
          </a:xfrm>
          <a:prstGeom prst="rect">
            <a:avLst/>
          </a:prstGeom>
          <a:ln w="0">
            <a:noFill/>
          </a:ln>
        </p:spPr>
      </p:pic>
      <p:sp>
        <p:nvSpPr>
          <p:cNvPr id="728" name="Text 3"/>
          <p:cNvSpPr/>
          <p:nvPr/>
        </p:nvSpPr>
        <p:spPr>
          <a:xfrm>
            <a:off x="2120760" y="3287880"/>
            <a:ext cx="27446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1" lang="en-US" sz="2000" spc="-60" strike="noStrike">
                <a:solidFill>
                  <a:srgbClr val="272525"/>
                </a:solidFill>
                <a:latin typeface="Inter Bold"/>
                <a:ea typeface="Inter Bold"/>
              </a:rPr>
              <a:t>Unsupervised Learning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Text 4"/>
          <p:cNvSpPr/>
          <p:nvPr/>
        </p:nvSpPr>
        <p:spPr>
          <a:xfrm>
            <a:off x="2120760" y="3729240"/>
            <a:ext cx="11715480" cy="6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en-US" sz="1600" spc="-32" strike="noStrike">
                <a:solidFill>
                  <a:srgbClr val="272525"/>
                </a:solidFill>
                <a:latin typeface="Inter"/>
                <a:ea typeface="Inter"/>
              </a:rPr>
              <a:t>Utilizes K-Means Clustering and PCA for dimensionality reduction to detect unknown anomalies validated by cluster quality metrics.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0" name="Image 2" descr="preencoded.png"/>
          <p:cNvPicPr/>
          <p:nvPr/>
        </p:nvPicPr>
        <p:blipFill>
          <a:blip r:embed="rId3"/>
          <a:stretch/>
        </p:blipFill>
        <p:spPr>
          <a:xfrm>
            <a:off x="793800" y="4586760"/>
            <a:ext cx="1020240" cy="1502280"/>
          </a:xfrm>
          <a:prstGeom prst="rect">
            <a:avLst/>
          </a:prstGeom>
          <a:ln w="0">
            <a:noFill/>
          </a:ln>
        </p:spPr>
      </p:pic>
      <p:sp>
        <p:nvSpPr>
          <p:cNvPr id="731" name="Text 5"/>
          <p:cNvSpPr/>
          <p:nvPr/>
        </p:nvSpPr>
        <p:spPr>
          <a:xfrm>
            <a:off x="2120760" y="4790880"/>
            <a:ext cx="28249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1" lang="en-US" sz="2000" spc="-60" strike="noStrike">
                <a:solidFill>
                  <a:srgbClr val="272525"/>
                </a:solidFill>
                <a:latin typeface="Inter Bold"/>
                <a:ea typeface="Inter Bold"/>
              </a:rPr>
              <a:t>Reinforcement Learning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Text 6"/>
          <p:cNvSpPr/>
          <p:nvPr/>
        </p:nvSpPr>
        <p:spPr>
          <a:xfrm>
            <a:off x="2120760" y="5232240"/>
            <a:ext cx="11715480" cy="6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en-US" sz="1600" spc="-32" strike="noStrike">
                <a:solidFill>
                  <a:srgbClr val="272525"/>
                </a:solidFill>
                <a:latin typeface="Inter"/>
                <a:ea typeface="Inter"/>
              </a:rPr>
              <a:t>Employs Deep Q-Learning and Actor-Critic models to iteratively adapt detection policies with reward signals based on classification accuracy and false positive penalties.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3" name="Image 3" descr="preencoded.png"/>
          <p:cNvPicPr/>
          <p:nvPr/>
        </p:nvPicPr>
        <p:blipFill>
          <a:blip r:embed="rId4"/>
          <a:stretch/>
        </p:blipFill>
        <p:spPr>
          <a:xfrm>
            <a:off x="793800" y="6089400"/>
            <a:ext cx="1020240" cy="1502280"/>
          </a:xfrm>
          <a:prstGeom prst="rect">
            <a:avLst/>
          </a:prstGeom>
          <a:ln w="0">
            <a:noFill/>
          </a:ln>
        </p:spPr>
      </p:pic>
      <p:sp>
        <p:nvSpPr>
          <p:cNvPr id="734" name="Text 7"/>
          <p:cNvSpPr/>
          <p:nvPr/>
        </p:nvSpPr>
        <p:spPr>
          <a:xfrm>
            <a:off x="2120760" y="6293520"/>
            <a:ext cx="25513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1" lang="en-US" sz="2000" spc="-60" strike="noStrike">
                <a:solidFill>
                  <a:srgbClr val="272525"/>
                </a:solidFill>
                <a:latin typeface="Inter Bold"/>
                <a:ea typeface="Inter Bold"/>
              </a:rPr>
              <a:t>Statistical Validation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Text 8"/>
          <p:cNvSpPr/>
          <p:nvPr/>
        </p:nvSpPr>
        <p:spPr>
          <a:xfrm>
            <a:off x="2120760" y="6734880"/>
            <a:ext cx="11715480" cy="6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51"/>
              </a:lnSpc>
              <a:tabLst>
                <a:tab algn="l" pos="0"/>
              </a:tabLst>
            </a:pPr>
            <a:r>
              <a:rPr b="0" lang="en-US" sz="1600" spc="-32" strike="noStrike">
                <a:solidFill>
                  <a:srgbClr val="272525"/>
                </a:solidFill>
                <a:latin typeface="Inter"/>
                <a:ea typeface="Inter"/>
              </a:rPr>
              <a:t>Applies Chi-Square, T-Test, and ANOVA to verify feature importance and model reliability ensuring robustness of detection mechanisms.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ext 0"/>
          <p:cNvSpPr/>
          <p:nvPr/>
        </p:nvSpPr>
        <p:spPr>
          <a:xfrm>
            <a:off x="793800" y="1536480"/>
            <a:ext cx="96501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1" lang="en-US" sz="4450" spc="-134" strike="noStrike">
                <a:solidFill>
                  <a:srgbClr val="000000"/>
                </a:solidFill>
                <a:latin typeface="Inter Bold"/>
                <a:ea typeface="Inter Bold"/>
              </a:rPr>
              <a:t>Tools, Software, and Hardware Setup</a:t>
            </a:r>
            <a:endParaRPr b="0" lang="en-IN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Text 1"/>
          <p:cNvSpPr/>
          <p:nvPr/>
        </p:nvSpPr>
        <p:spPr>
          <a:xfrm>
            <a:off x="793800" y="2812320"/>
            <a:ext cx="29055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69" strike="noStrike">
                <a:solidFill>
                  <a:srgbClr val="000000"/>
                </a:solidFill>
                <a:latin typeface="Inter Bold"/>
                <a:ea typeface="Inter Bold"/>
              </a:rPr>
              <a:t>Software Environment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8" name="Text 2"/>
          <p:cNvSpPr/>
          <p:nvPr/>
        </p:nvSpPr>
        <p:spPr>
          <a:xfrm>
            <a:off x="793800" y="3393360"/>
            <a:ext cx="624420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Python with Scikit-learn, PyTorch for ML/DL model implementation 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Text 3"/>
          <p:cNvSpPr/>
          <p:nvPr/>
        </p:nvSpPr>
        <p:spPr>
          <a:xfrm>
            <a:off x="793800" y="419868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Visualization tools: Seaborn, Matplotlib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Text 4"/>
          <p:cNvSpPr/>
          <p:nvPr/>
        </p:nvSpPr>
        <p:spPr>
          <a:xfrm>
            <a:off x="793800" y="464076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Development on Jupyter Notebook, Google Colab, and VS Code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Text 5"/>
          <p:cNvSpPr/>
          <p:nvPr/>
        </p:nvSpPr>
        <p:spPr>
          <a:xfrm>
            <a:off x="793800" y="544572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Statistical analysis: Pingouin, SciPy libraries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 6"/>
          <p:cNvSpPr/>
          <p:nvPr/>
        </p:nvSpPr>
        <p:spPr>
          <a:xfrm>
            <a:off x="793800" y="588816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Report Generation: Automated PDF reports using ReportLab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Text 7"/>
          <p:cNvSpPr/>
          <p:nvPr/>
        </p:nvSpPr>
        <p:spPr>
          <a:xfrm>
            <a:off x="7599600" y="2812320"/>
            <a:ext cx="40546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69" strike="noStrike">
                <a:solidFill>
                  <a:srgbClr val="000000"/>
                </a:solidFill>
                <a:latin typeface="Inter Bold"/>
                <a:ea typeface="Inter Bold"/>
              </a:rPr>
              <a:t>Hardware &amp; Design Parameters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Text 8"/>
          <p:cNvSpPr/>
          <p:nvPr/>
        </p:nvSpPr>
        <p:spPr>
          <a:xfrm>
            <a:off x="7599600" y="339336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Intel Core i5+, 8-16GB RAM, NVIDIA GPU with CUDA recommended for RL training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Text 9"/>
          <p:cNvSpPr/>
          <p:nvPr/>
        </p:nvSpPr>
        <p:spPr>
          <a:xfrm>
            <a:off x="7599600" y="4198680"/>
            <a:ext cx="624420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Simulation parameters: Batch size 64, 20 training episodes, learning rate 0.001, gamma 0.99, epsilon decay 0.995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Text 0"/>
          <p:cNvSpPr/>
          <p:nvPr/>
        </p:nvSpPr>
        <p:spPr>
          <a:xfrm>
            <a:off x="793800" y="1065960"/>
            <a:ext cx="89589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1" lang="en-US" sz="4450" spc="-134" strike="noStrike">
                <a:solidFill>
                  <a:srgbClr val="000000"/>
                </a:solidFill>
                <a:latin typeface="Inter Bold"/>
                <a:ea typeface="Inter Bold"/>
              </a:rPr>
              <a:t>Results and Performance Analysis</a:t>
            </a:r>
            <a:endParaRPr b="0" lang="en-IN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Shape 1"/>
          <p:cNvSpPr/>
          <p:nvPr/>
        </p:nvSpPr>
        <p:spPr>
          <a:xfrm>
            <a:off x="793800" y="2115000"/>
            <a:ext cx="6407640" cy="2410560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 2"/>
          <p:cNvSpPr/>
          <p:nvPr/>
        </p:nvSpPr>
        <p:spPr>
          <a:xfrm>
            <a:off x="1028160" y="23493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69" strike="noStrike">
                <a:solidFill>
                  <a:srgbClr val="272525"/>
                </a:solidFill>
                <a:latin typeface="Inter Bold"/>
                <a:ea typeface="Inter Bold"/>
              </a:rPr>
              <a:t>Supervised Models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9" name="Text 3"/>
          <p:cNvSpPr/>
          <p:nvPr/>
        </p:nvSpPr>
        <p:spPr>
          <a:xfrm>
            <a:off x="1028160" y="2839680"/>
            <a:ext cx="593892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Random Forest ,knn and Logistic Regression achieved over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90% accuracy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; Decision Tree showed interpretability but risked overfitting; Naive Bayes suffered from high false negatives.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Shape 4"/>
          <p:cNvSpPr/>
          <p:nvPr/>
        </p:nvSpPr>
        <p:spPr>
          <a:xfrm>
            <a:off x="7428600" y="2115000"/>
            <a:ext cx="6407640" cy="2410560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 5"/>
          <p:cNvSpPr/>
          <p:nvPr/>
        </p:nvSpPr>
        <p:spPr>
          <a:xfrm>
            <a:off x="7662960" y="2349360"/>
            <a:ext cx="45003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69" strike="noStrike">
                <a:solidFill>
                  <a:srgbClr val="272525"/>
                </a:solidFill>
                <a:latin typeface="Inter Bold"/>
                <a:ea typeface="Inter Bold"/>
              </a:rPr>
              <a:t>Unsupervised Learning (K-Means)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Text 6"/>
          <p:cNvSpPr/>
          <p:nvPr/>
        </p:nvSpPr>
        <p:spPr>
          <a:xfrm>
            <a:off x="7662960" y="2839680"/>
            <a:ext cx="593892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Detected unlabeled anomalies effectively with a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Silhouette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Score above 0.5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, demonstrating robust clustering for unknown threats.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" name="Shape 7"/>
          <p:cNvSpPr/>
          <p:nvPr/>
        </p:nvSpPr>
        <p:spPr>
          <a:xfrm>
            <a:off x="793800" y="4752720"/>
            <a:ext cx="6407640" cy="2410560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Text 8"/>
          <p:cNvSpPr/>
          <p:nvPr/>
        </p:nvSpPr>
        <p:spPr>
          <a:xfrm>
            <a:off x="1028160" y="4987080"/>
            <a:ext cx="4167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69" strike="noStrike">
                <a:solidFill>
                  <a:srgbClr val="272525"/>
                </a:solidFill>
                <a:latin typeface="Inter Bold"/>
                <a:ea typeface="Inter Bold"/>
              </a:rPr>
              <a:t>Reinforcement Learning Models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 9"/>
          <p:cNvSpPr/>
          <p:nvPr/>
        </p:nvSpPr>
        <p:spPr>
          <a:xfrm>
            <a:off x="1028160" y="5477400"/>
            <a:ext cx="593892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DQN attained an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AUC near 0.93 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with stable rewards after about 15 episodes;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But Actor-Critic model faced coverage issue.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Shape 10"/>
          <p:cNvSpPr/>
          <p:nvPr/>
        </p:nvSpPr>
        <p:spPr>
          <a:xfrm>
            <a:off x="7428600" y="4752720"/>
            <a:ext cx="6407640" cy="2410560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 11"/>
          <p:cNvSpPr/>
          <p:nvPr/>
        </p:nvSpPr>
        <p:spPr>
          <a:xfrm>
            <a:off x="7662960" y="4987080"/>
            <a:ext cx="33516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69" strike="noStrike">
                <a:solidFill>
                  <a:srgbClr val="272525"/>
                </a:solidFill>
                <a:latin typeface="Inter Bold"/>
                <a:ea typeface="Inter Bold"/>
              </a:rPr>
              <a:t>Cost-Efficiency Tradeoffs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Text 12"/>
          <p:cNvSpPr/>
          <p:nvPr/>
        </p:nvSpPr>
        <p:spPr>
          <a:xfrm>
            <a:off x="7662960" y="5477400"/>
            <a:ext cx="593892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Random Forest provides a low-cost, high-accuracy option; K-Means offers very low cost anomaly detection; RL models entail higher GPU costs but excel in adaptive detection capabilities.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Picture 1" descr=""/>
          <p:cNvPicPr/>
          <p:nvPr/>
        </p:nvPicPr>
        <p:blipFill>
          <a:blip r:embed="rId1"/>
          <a:stretch/>
        </p:blipFill>
        <p:spPr>
          <a:xfrm>
            <a:off x="479880" y="576720"/>
            <a:ext cx="5731200" cy="3418560"/>
          </a:xfrm>
          <a:prstGeom prst="rect">
            <a:avLst/>
          </a:prstGeom>
          <a:ln w="0">
            <a:noFill/>
          </a:ln>
        </p:spPr>
      </p:pic>
      <p:pic>
        <p:nvPicPr>
          <p:cNvPr id="760" name="Picture 2" descr=""/>
          <p:cNvPicPr/>
          <p:nvPr/>
        </p:nvPicPr>
        <p:blipFill>
          <a:blip r:embed="rId2"/>
          <a:stretch/>
        </p:blipFill>
        <p:spPr>
          <a:xfrm>
            <a:off x="781200" y="4900320"/>
            <a:ext cx="5731200" cy="2408760"/>
          </a:xfrm>
          <a:prstGeom prst="rect">
            <a:avLst/>
          </a:prstGeom>
          <a:ln w="0">
            <a:noFill/>
          </a:ln>
        </p:spPr>
      </p:pic>
      <p:pic>
        <p:nvPicPr>
          <p:cNvPr id="761" name="Picture 4" descr=""/>
          <p:cNvPicPr/>
          <p:nvPr/>
        </p:nvPicPr>
        <p:blipFill>
          <a:blip r:embed="rId3"/>
          <a:stretch/>
        </p:blipFill>
        <p:spPr>
          <a:xfrm>
            <a:off x="6981840" y="723960"/>
            <a:ext cx="6495120" cy="488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76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Text 1"/>
          <p:cNvSpPr/>
          <p:nvPr/>
        </p:nvSpPr>
        <p:spPr>
          <a:xfrm>
            <a:off x="793800" y="179856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1" lang="en-US" sz="4450" spc="-134" strike="noStrike">
                <a:solidFill>
                  <a:srgbClr val="000000"/>
                </a:solidFill>
                <a:latin typeface="Inter Bold"/>
                <a:ea typeface="Inter Bold"/>
              </a:rPr>
              <a:t>Conclusion</a:t>
            </a:r>
            <a:endParaRPr b="0" lang="en-IN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Text 2"/>
          <p:cNvSpPr/>
          <p:nvPr/>
        </p:nvSpPr>
        <p:spPr>
          <a:xfrm>
            <a:off x="793800" y="2847600"/>
            <a:ext cx="130424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Developed a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hybrid IDS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using Supervised, Unsupervised &amp; Reinforcement Learning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" name="Text 3"/>
          <p:cNvSpPr/>
          <p:nvPr/>
        </p:nvSpPr>
        <p:spPr>
          <a:xfrm>
            <a:off x="793800" y="3652560"/>
            <a:ext cx="130424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Reinforcement Learning (DQN, Actor-Critic)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improved adaptability to new threats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Text 4"/>
          <p:cNvSpPr/>
          <p:nvPr/>
        </p:nvSpPr>
        <p:spPr>
          <a:xfrm>
            <a:off x="793800" y="4457880"/>
            <a:ext cx="130424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Modular system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design supports real-time detection, evaluation &amp; automated reporting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8" name="Text 5"/>
          <p:cNvSpPr/>
          <p:nvPr/>
        </p:nvSpPr>
        <p:spPr>
          <a:xfrm>
            <a:off x="793800" y="5262840"/>
            <a:ext cx="130424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Achieved high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accuracy, flexibility, and scalability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across different attack types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9" name="Text 6"/>
          <p:cNvSpPr/>
          <p:nvPr/>
        </p:nvSpPr>
        <p:spPr>
          <a:xfrm>
            <a:off x="793800" y="606816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Demonstrated strong potential for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real-world deployment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in evolving cyber environments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77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Text 1"/>
          <p:cNvSpPr/>
          <p:nvPr/>
        </p:nvSpPr>
        <p:spPr>
          <a:xfrm>
            <a:off x="793800" y="1051560"/>
            <a:ext cx="783720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1" lang="en-US" sz="4450" spc="-134" strike="noStrike">
                <a:solidFill>
                  <a:srgbClr val="000000"/>
                </a:solidFill>
                <a:latin typeface="Inter Bold"/>
                <a:ea typeface="Inter Bold"/>
              </a:rPr>
              <a:t>Contribution of Team Member</a:t>
            </a:r>
            <a:endParaRPr b="0" lang="en-IN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3" name="Text 2"/>
          <p:cNvSpPr/>
          <p:nvPr/>
        </p:nvSpPr>
        <p:spPr>
          <a:xfrm>
            <a:off x="664560" y="1732680"/>
            <a:ext cx="130424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This was an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individual project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carried out by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Abhishek Kumar (21BCE0846)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ts val="2849"/>
              </a:lnSpc>
              <a:tabLst>
                <a:tab algn="l" pos="0"/>
              </a:tabLst>
            </a:pP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Solely responsible for: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Text 3"/>
          <p:cNvSpPr/>
          <p:nvPr/>
        </p:nvSpPr>
        <p:spPr>
          <a:xfrm>
            <a:off x="793800" y="406368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</a:pPr>
            <a:endParaRPr b="0" lang="en-US" sz="17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5" name="Text 4"/>
          <p:cNvSpPr/>
          <p:nvPr/>
        </p:nvSpPr>
        <p:spPr>
          <a:xfrm>
            <a:off x="793800" y="450612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</a:pPr>
            <a:endParaRPr b="0" lang="en-US" sz="17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6" name="Text 5"/>
          <p:cNvSpPr/>
          <p:nvPr/>
        </p:nvSpPr>
        <p:spPr>
          <a:xfrm>
            <a:off x="793800" y="494820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</a:pPr>
            <a:endParaRPr b="0" lang="en-US" sz="17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7" name="Text 6"/>
          <p:cNvSpPr/>
          <p:nvPr/>
        </p:nvSpPr>
        <p:spPr>
          <a:xfrm>
            <a:off x="793800" y="539028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</a:pPr>
            <a:endParaRPr b="0" lang="en-US" sz="17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8" name="Text 7"/>
          <p:cNvSpPr/>
          <p:nvPr/>
        </p:nvSpPr>
        <p:spPr>
          <a:xfrm>
            <a:off x="879840" y="282204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Literature Review &amp; Problem Formulation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System Architecture &amp; Model Design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Implementation of ML, RL, and Evaluation Modules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Performance Testing &amp; Statistical Validation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Automated Reporting &amp; Final Documentation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849"/>
              </a:lnSpc>
            </a:pP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b="1" lang="en-IN" sz="1600" spc="-1" strike="noStrike">
                <a:solidFill>
                  <a:schemeClr val="dk1"/>
                </a:solidFill>
                <a:latin typeface="Consolas"/>
                <a:ea typeface="Inter"/>
              </a:rPr>
              <a:t>Future Enhancements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br>
              <a:rPr sz="1600"/>
            </a:br>
            <a:r>
              <a:rPr b="0" lang="en-IN" sz="1600" spc="-1" strike="noStrike">
                <a:solidFill>
                  <a:schemeClr val="dk1"/>
                </a:solidFill>
                <a:latin typeface="Consolas"/>
                <a:ea typeface="Inter"/>
              </a:rPr>
              <a:t>Use Docker/Kubernetes for deployment.</a:t>
            </a:r>
            <a:br>
              <a:rPr sz="1600"/>
            </a:br>
            <a:r>
              <a:rPr b="0" lang="en-IN" sz="1600" spc="-1" strike="noStrike">
                <a:solidFill>
                  <a:schemeClr val="dk1"/>
                </a:solidFill>
                <a:latin typeface="Consolas"/>
                <a:ea typeface="Inter"/>
              </a:rPr>
              <a:t>Replace Excel sheet with real DB (e.g., MySQL).</a:t>
            </a:r>
            <a:br>
              <a:rPr sz="1600"/>
            </a:br>
            <a:r>
              <a:rPr b="0" lang="en-IN" sz="1600" spc="-1" strike="noStrike">
                <a:solidFill>
                  <a:schemeClr val="dk1"/>
                </a:solidFill>
                <a:latin typeface="Consolas"/>
                <a:ea typeface="Inter"/>
              </a:rPr>
              <a:t>Add Explainable AI (SHAP/LIME).</a:t>
            </a:r>
            <a:br>
              <a:rPr sz="1600"/>
            </a:br>
            <a:r>
              <a:rPr b="0" lang="en-IN" sz="1600" spc="-1" strike="noStrike">
                <a:solidFill>
                  <a:schemeClr val="dk1"/>
                </a:solidFill>
                <a:latin typeface="Consolas"/>
                <a:ea typeface="Inter"/>
              </a:rPr>
              <a:t>Support more attacks in UI (currently only SQLi, per Review 1).</a:t>
            </a:r>
            <a:br>
              <a:rPr sz="1600"/>
            </a:br>
            <a:r>
              <a:rPr b="0" lang="en-IN" sz="1600" spc="-1" strike="noStrike">
                <a:solidFill>
                  <a:schemeClr val="dk1"/>
                </a:solidFill>
                <a:latin typeface="Consolas"/>
                <a:ea typeface="Inter"/>
              </a:rPr>
              <a:t>Add Federated Learning (can train on multiple devices without leakage od data so privacy-safe )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849"/>
              </a:lnSpc>
            </a:pP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Text 0"/>
          <p:cNvSpPr/>
          <p:nvPr/>
        </p:nvSpPr>
        <p:spPr>
          <a:xfrm>
            <a:off x="793800" y="1285560"/>
            <a:ext cx="92458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1" lang="en-US" sz="4450" spc="-134" strike="noStrike">
                <a:solidFill>
                  <a:srgbClr val="000000"/>
                </a:solidFill>
                <a:latin typeface="Inter Bold"/>
                <a:ea typeface="Inter Bold"/>
              </a:rPr>
              <a:t>Impact on Society and Environment</a:t>
            </a:r>
            <a:endParaRPr b="0" lang="en-IN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Text 1"/>
          <p:cNvSpPr/>
          <p:nvPr/>
        </p:nvSpPr>
        <p:spPr>
          <a:xfrm>
            <a:off x="793800" y="253836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Societal Impact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Text 2"/>
          <p:cNvSpPr/>
          <p:nvPr/>
        </p:nvSpPr>
        <p:spPr>
          <a:xfrm>
            <a:off x="793800" y="310536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Strengthens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cybersecurity infrastructure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for institutions, industries, and individuals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Text 3"/>
          <p:cNvSpPr/>
          <p:nvPr/>
        </p:nvSpPr>
        <p:spPr>
          <a:xfrm>
            <a:off x="793800" y="391068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Reduces risk of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data breaches, identity theft, and financial loss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Text 4"/>
          <p:cNvSpPr/>
          <p:nvPr/>
        </p:nvSpPr>
        <p:spPr>
          <a:xfrm>
            <a:off x="793800" y="471564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Enables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real-time threat detection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, enhancing public trust in digital systems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ext 5"/>
          <p:cNvSpPr/>
          <p:nvPr/>
        </p:nvSpPr>
        <p:spPr>
          <a:xfrm>
            <a:off x="793800" y="552096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Promotes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AI-driven security innovation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, encouraging safer digital transformation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Text 6"/>
          <p:cNvSpPr/>
          <p:nvPr/>
        </p:nvSpPr>
        <p:spPr>
          <a:xfrm>
            <a:off x="7599600" y="253836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Environmental Impact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Text 7"/>
          <p:cNvSpPr/>
          <p:nvPr/>
        </p:nvSpPr>
        <p:spPr>
          <a:xfrm>
            <a:off x="7599600" y="310536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Uses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software-based solutions</a:t>
            </a: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with minimal physical resource consumption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Text 8"/>
          <p:cNvSpPr/>
          <p:nvPr/>
        </p:nvSpPr>
        <p:spPr>
          <a:xfrm>
            <a:off x="7599600" y="391068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Open-source libraries and cloud tools reduce </a:t>
            </a:r>
            <a:r>
              <a:rPr b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hardware dependency and e-waste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9"/>
          <p:cNvSpPr/>
          <p:nvPr/>
        </p:nvSpPr>
        <p:spPr>
          <a:xfrm>
            <a:off x="7599600" y="4715640"/>
            <a:ext cx="624420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Efficient use of computational resources (e.g., optimized training, GPU usage only when needed)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849"/>
              </a:lnSpc>
              <a:buClr>
                <a:srgbClr val="272525"/>
              </a:buClr>
              <a:buFont typeface="Symbol" charset="2"/>
              <a:buChar char=""/>
            </a:pPr>
            <a:r>
              <a:rPr b="0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 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ext 10"/>
          <p:cNvSpPr/>
          <p:nvPr/>
        </p:nvSpPr>
        <p:spPr>
          <a:xfrm>
            <a:off x="793800" y="658116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i="1" lang="en-US" sz="1750" spc="-38" strike="noStrike">
                <a:solidFill>
                  <a:srgbClr val="272525"/>
                </a:solidFill>
                <a:latin typeface="Inter"/>
                <a:ea typeface="Inter"/>
              </a:rPr>
              <a:t>Supports a secure digital ecosystem while maintaining environmental sustainability.</a:t>
            </a:r>
            <a:endParaRPr b="0" lang="en-IN" sz="1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79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Text 1"/>
          <p:cNvSpPr/>
          <p:nvPr/>
        </p:nvSpPr>
        <p:spPr>
          <a:xfrm>
            <a:off x="793800" y="681480"/>
            <a:ext cx="368568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2900" spc="-89" strike="noStrike">
                <a:solidFill>
                  <a:srgbClr val="000000"/>
                </a:solidFill>
                <a:latin typeface="Inter Bold"/>
                <a:ea typeface="Inter Bold"/>
              </a:rPr>
              <a:t>Major References</a:t>
            </a:r>
            <a:endParaRPr b="0" lang="en-IN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2"/>
          <p:cNvSpPr/>
          <p:nvPr/>
        </p:nvSpPr>
        <p:spPr>
          <a:xfrm>
            <a:off x="793800" y="1363320"/>
            <a:ext cx="13042440" cy="65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</a:pPr>
            <a:br>
              <a:rPr sz="1200"/>
            </a:b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1. Mnih, V. et al. (2015). Human-level control through deep reinforcement learning. Nature.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https://doi.org/10.1038/nature14236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br>
              <a:rPr sz="1200"/>
            </a:b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2. Silver, D. et al. (2014). Deterministic Policy Gradient Algorithms. ICML.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br>
              <a:rPr sz="1200"/>
            </a:b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3. Chandola, V. et al. (2009). Anomaly Detection: A Survey. ACM Computing Surveys.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https://doi.org/10.1145/1541880.1541882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br>
              <a:rPr sz="1200"/>
            </a:b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4. Smith, A. et al. (2020). Deep Learning for NIDS. IEEE Transactions on Information Forensics &amp; Security.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br>
              <a:rPr sz="1200"/>
            </a:b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5. Hussain, S. S. (n.d.). SQL Injection Dataset. Kaggle.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https://www.kaggle.com/datasets/syedsaqlainhussain/sql-injection-dataset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br>
              <a:rPr sz="1200"/>
            </a:b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6. Canadian Institute for Cybersecurity. CIC-DDoS 2019 Dataset. UNB.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https://www.unb.ca/cic/datasets/ddos-2019.html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br>
              <a:rPr sz="1200"/>
            </a:b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7. Scikit-learn (n.d.). Scikit-learn Documentation.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https://scikit-learn.org/stable/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br>
              <a:rPr sz="1200"/>
            </a:b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8. ReportLab (n.d.). User Guide for PDF Generation.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https://www.reportlab.com/docs/reportlab-userguide.pdf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51"/>
              </a:lnSpc>
            </a:pPr>
            <a:endParaRPr b="0" lang="en-IN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51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Database used 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SQL Injection Dataset – Kaggle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br>
              <a:rPr sz="1200"/>
            </a:b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CIC-DDoS 2019 – UNB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→ </a:t>
            </a:r>
            <a:r>
              <a:rPr b="0" lang="en-IN" sz="1200" spc="-1" strike="noStrike">
                <a:solidFill>
                  <a:schemeClr val="dk1"/>
                </a:solidFill>
                <a:latin typeface="Consolas"/>
              </a:rPr>
              <a:t>Cleaned, scaled, encoded, split using sklearn &amp; pandas.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Text 3"/>
          <p:cNvSpPr/>
          <p:nvPr/>
        </p:nvSpPr>
        <p:spPr>
          <a:xfrm>
            <a:off x="793800" y="2122200"/>
            <a:ext cx="1304244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51"/>
              </a:lnSpc>
            </a:pPr>
            <a:endParaRPr b="0" lang="en-US" sz="11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5" name="Text 4"/>
          <p:cNvSpPr/>
          <p:nvPr/>
        </p:nvSpPr>
        <p:spPr>
          <a:xfrm>
            <a:off x="793800" y="2645280"/>
            <a:ext cx="1304244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51"/>
              </a:lnSpc>
            </a:pPr>
            <a:endParaRPr b="0" lang="en-US" sz="11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6" name="Text 5"/>
          <p:cNvSpPr/>
          <p:nvPr/>
        </p:nvSpPr>
        <p:spPr>
          <a:xfrm>
            <a:off x="793800" y="3404160"/>
            <a:ext cx="1304244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51"/>
              </a:lnSpc>
            </a:pPr>
            <a:endParaRPr b="0" lang="en-US" sz="11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7" name="Text 7"/>
          <p:cNvSpPr/>
          <p:nvPr/>
        </p:nvSpPr>
        <p:spPr>
          <a:xfrm>
            <a:off x="793800" y="4685760"/>
            <a:ext cx="1304244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51"/>
              </a:lnSpc>
            </a:pPr>
            <a:endParaRPr b="0" lang="en-US" sz="11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8" name="Text 8"/>
          <p:cNvSpPr/>
          <p:nvPr/>
        </p:nvSpPr>
        <p:spPr>
          <a:xfrm>
            <a:off x="793800" y="5444640"/>
            <a:ext cx="1304244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51"/>
              </a:lnSpc>
            </a:pPr>
            <a:endParaRPr b="0" lang="en-US" sz="11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9" name="Text 9"/>
          <p:cNvSpPr/>
          <p:nvPr/>
        </p:nvSpPr>
        <p:spPr>
          <a:xfrm>
            <a:off x="793800" y="6203520"/>
            <a:ext cx="1304244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51"/>
              </a:lnSpc>
            </a:pPr>
            <a:endParaRPr b="0" lang="en-US" sz="11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0" name="Text 10"/>
          <p:cNvSpPr/>
          <p:nvPr/>
        </p:nvSpPr>
        <p:spPr>
          <a:xfrm>
            <a:off x="793800" y="7312320"/>
            <a:ext cx="1304244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1851"/>
              </a:lnSpc>
              <a:tabLst>
                <a:tab algn="l" pos="0"/>
              </a:tabLst>
            </a:pPr>
            <a:endParaRPr b="0" lang="en-US" sz="115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</TotalTime>
  <Application>LibreOffice/7.6.2.1$Linux_X86_64 LibreOffice_project/56f7684011345957bbf33a7ee678afaf4d2ba333</Application>
  <AppVersion>15.0000</AppVersion>
  <Words>1398</Words>
  <Paragraphs>168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2025-04-23T04:41:05Z</dcterms:created>
  <dc:creator>PptxGenJS</dc:creator>
  <dc:description/>
  <dc:language>en-IN</dc:language>
  <cp:lastModifiedBy/>
  <dcterms:modified xsi:type="dcterms:W3CDTF">2025-04-25T13:30:41Z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Custom</vt:lpwstr>
  </property>
  <property fmtid="{D5CDD505-2E9C-101B-9397-08002B2CF9AE}" pid="4" name="Slides">
    <vt:i4>15</vt:i4>
  </property>
</Properties>
</file>